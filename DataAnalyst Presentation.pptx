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5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E666-E578-5AF1-63EC-6FA83A1CA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DBC59-D0BA-0827-388B-23250950A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5B2AE-794A-8D87-1E5E-CC0520B3A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C7A5-3B31-49FC-B13A-175D63A9FC9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93928-975E-5390-C1C0-67073CED5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4ED05-B9B6-28D9-D0F0-B4E8304A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BE898-46E5-43E7-8C23-DFFD7FAFF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52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0C5F2-B787-D8B3-7386-7724E2147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E371E-24E0-E44C-AF9F-F7A62ED9A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FDBEF-2DAA-9E5A-EEC5-9328074CD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C7A5-3B31-49FC-B13A-175D63A9FC9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F5E8D-538C-590C-ADCF-DED41596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3EA35-036A-7529-D5F5-E3B661A1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BE898-46E5-43E7-8C23-DFFD7FAFF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32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F4BE-707B-1A69-4B1A-8BD85B8B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51C1D-EA83-37C5-D877-256E3A67B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0B4EA-5F7E-FFF3-3373-A51C9EB12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C7A5-3B31-49FC-B13A-175D63A9FC9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75D74-1121-E41C-8B3D-A9CDD7330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4F807-3137-3F51-950F-F47BD669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BE898-46E5-43E7-8C23-DFFD7FAFF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15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F367-0F2C-1430-CD52-17BA61016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FB0AB-958D-A195-B3BB-98CD63505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6D385-3815-2B58-2F8C-797CAEABA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E67F5-8807-8581-8770-803D6B9E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C7A5-3B31-49FC-B13A-175D63A9FC9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B72B4-3501-D11C-6ABB-A6FB55F42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8FEE4-D3A6-C1DC-9565-8BF00CEC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BE898-46E5-43E7-8C23-DFFD7FAFF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438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A22C-1731-1B5C-2CBB-AD8C1DB7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3B7EA-6898-BEF8-9998-1BFE2D390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A1FE0-7168-4C74-C54B-7C6A88D85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13892-751D-5B33-DF36-3ADAAB3096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28201F-5534-1D0E-5246-2F443D9D1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E7F7BE-4A3F-F3CB-8FB6-3F83980A3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C7A5-3B31-49FC-B13A-175D63A9FC9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797CFF-D736-FEA9-C26F-A324EAB1B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3FAF18-6B29-E99A-3DAE-F760500A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BE898-46E5-43E7-8C23-DFFD7FAFF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215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6A3B6-BD5E-067B-D684-2EC392ED2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1999C-0B09-FFC1-8958-5B5CA067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C7A5-3B31-49FC-B13A-175D63A9FC9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4D27C-39B6-B8F8-6716-F7738192B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B7A96-1E13-3818-E5FA-CA2C66F0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BE898-46E5-43E7-8C23-DFFD7FAFF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38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3A931-C750-7C04-8F6E-DEBD59E44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C7A5-3B31-49FC-B13A-175D63A9FC9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8C5EC3-4AA0-78D0-7B40-CB3058BE0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7B31B-1AA1-4114-15DB-D8077958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BE898-46E5-43E7-8C23-DFFD7FAFF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349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2E44-9ADF-4D08-AFAC-3AA038A81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D0C3A-56B3-5CAB-4765-E69AA8465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8927E-B88C-E882-E7C0-0F29E0CB5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FC763-0389-D7C4-99EE-B413B501B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C7A5-3B31-49FC-B13A-175D63A9FC9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869AC-A38C-3AA6-168A-8C1AC7BF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FDD19-0239-9F78-4C2F-CC04433A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BE898-46E5-43E7-8C23-DFFD7FAFF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449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4A63-B000-9346-2BE7-70A6F89BC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3B8D40-23B5-DF9E-EB7F-8846B058C4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4018B-C79B-9962-BB41-235B184C6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0CC7C-14FD-768D-3EEB-6999E9D4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C7A5-3B31-49FC-B13A-175D63A9FC9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61B9E-3DD8-2F5D-38A2-02A08CDC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46661-8241-F37C-599B-D6E972AB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BE898-46E5-43E7-8C23-DFFD7FAFF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24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A6AF-D02E-6872-4492-E7497CF8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DD5829-50E1-E9B1-92F5-228834CAD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973F5-AA5E-8842-3AB3-8DF2D35B5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C7A5-3B31-49FC-B13A-175D63A9FC9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C83E0-7DCD-298A-CE2B-870BF712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ECB0B-ECEF-83B9-B1DD-75A620124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BE898-46E5-43E7-8C23-DFFD7FAFF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80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D1B8F-CD00-40E3-1870-098CBE0AA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EF8AB-0E65-1A1A-4C91-125FF861D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B40BF-1142-FD77-31EA-B20A27B4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C7A5-3B31-49FC-B13A-175D63A9FC9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FEED3-450F-D5F3-84C6-15FFBB40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06ABE-6EB5-CACE-0A61-CE3CC0C49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BE898-46E5-43E7-8C23-DFFD7FAFF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85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B97A87-0D3B-BC62-4C0B-7177A263E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22E22-65D5-EC0D-8250-FE75C2067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2A050-A168-A90F-1D32-CEC500E8F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6CC7A5-3B31-49FC-B13A-175D63A9FC9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79AC1-2F41-9239-3975-8B100E36A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BCD3-05B5-60FB-FEA3-ED66694EE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BE898-46E5-43E7-8C23-DFFD7FAFF7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59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F4289-A012-3984-F26E-1237E0A73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8657"/>
            <a:ext cx="9144000" cy="3677265"/>
          </a:xfrm>
        </p:spPr>
        <p:txBody>
          <a:bodyPr>
            <a:normAutofit fontScale="90000"/>
          </a:bodyPr>
          <a:lstStyle/>
          <a:p>
            <a:r>
              <a:rPr lang="en-US" dirty="0"/>
              <a:t>Title:</a:t>
            </a:r>
            <a:br>
              <a:rPr lang="en-US" dirty="0"/>
            </a:br>
            <a:r>
              <a:rPr lang="en-US" dirty="0"/>
              <a:t>Stack Overflow Developer Survey Analysis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A3F2D6-0AD9-C0F5-1438-EB81D5884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3040626"/>
          </a:xfrm>
        </p:spPr>
        <p:txBody>
          <a:bodyPr>
            <a:normAutofit/>
          </a:bodyPr>
          <a:lstStyle/>
          <a:p>
            <a:r>
              <a:rPr lang="en-US" sz="6000" dirty="0"/>
              <a:t>Subtitle:</a:t>
            </a:r>
          </a:p>
          <a:p>
            <a:r>
              <a:rPr lang="en-US" sz="6000" dirty="0"/>
              <a:t>Ashish Singh Kaurav</a:t>
            </a:r>
          </a:p>
          <a:p>
            <a:r>
              <a:rPr lang="en-IN" sz="6000" dirty="0"/>
              <a:t>Date-03/03/2026</a:t>
            </a:r>
          </a:p>
        </p:txBody>
      </p:sp>
    </p:spTree>
    <p:extLst>
      <p:ext uri="{BB962C8B-B14F-4D97-AF65-F5344CB8AC3E}">
        <p14:creationId xmlns:p14="http://schemas.microsoft.com/office/powerpoint/2010/main" val="1672974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3895-F027-A1A2-961A-2440DEEE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F90F3-66A9-F3EF-44DA-4D8F8F728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Executive Summary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Programming Language Trends</a:t>
            </a:r>
          </a:p>
          <a:p>
            <a:r>
              <a:rPr lang="en-IN" dirty="0"/>
              <a:t>Database Trends</a:t>
            </a:r>
          </a:p>
          <a:p>
            <a:r>
              <a:rPr lang="en-IN" dirty="0"/>
              <a:t>Job Market Analysis</a:t>
            </a:r>
          </a:p>
          <a:p>
            <a:r>
              <a:rPr lang="en-IN" dirty="0"/>
              <a:t>Dashboard Insights</a:t>
            </a:r>
          </a:p>
          <a:p>
            <a:r>
              <a:rPr lang="en-IN" dirty="0"/>
              <a:t>Overall Findings</a:t>
            </a:r>
          </a:p>
          <a:p>
            <a:r>
              <a:rPr lang="en-IN" dirty="0"/>
              <a:t>Conclusion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4807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54C2D-143E-691D-2A66-67802429E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B8904-0C1E-2ACD-7F57-0A054E139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JavaScript, HTML/CSS and C# dominate current usage.</a:t>
            </a:r>
          </a:p>
          <a:p>
            <a:r>
              <a:rPr lang="en-US" dirty="0"/>
              <a:t>PostgreSQL is the most popular and most desired database.</a:t>
            </a:r>
          </a:p>
          <a:p>
            <a:r>
              <a:rPr lang="en-US" dirty="0"/>
              <a:t>AWS and Azure lead cloud platform usage.</a:t>
            </a:r>
          </a:p>
          <a:p>
            <a:r>
              <a:rPr lang="en-US" dirty="0"/>
              <a:t>Mid-career professionals (30-45) earn highest median compensation.</a:t>
            </a:r>
          </a:p>
          <a:p>
            <a:r>
              <a:rPr lang="en-US" dirty="0"/>
              <a:t>Job satisfaction peaks at level 8</a:t>
            </a:r>
          </a:p>
          <a:p>
            <a:r>
              <a:rPr lang="en-US" dirty="0"/>
              <a:t>Strong correlation between experience and compensation.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64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CE03-BB77-52DD-1451-D37C03C37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F2A9A-96FB-2CFD-C000-8A9B9B971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The purpose of this analysis is to understand the global developer landscape.</a:t>
            </a:r>
          </a:p>
          <a:p>
            <a:pPr marL="0" indent="0">
              <a:buNone/>
            </a:pPr>
            <a:r>
              <a:rPr lang="en-IN" dirty="0"/>
              <a:t>This dataset contains responses from thousands of developers across different countries, age groups, and employment types.</a:t>
            </a:r>
          </a:p>
          <a:p>
            <a:pPr marL="0" indent="0">
              <a:buNone/>
            </a:pPr>
            <a:r>
              <a:rPr lang="en-IN" dirty="0"/>
              <a:t>This analysis helps:</a:t>
            </a:r>
          </a:p>
          <a:p>
            <a:r>
              <a:rPr lang="en-IN" dirty="0"/>
              <a:t>Which technologies are trending?</a:t>
            </a:r>
          </a:p>
          <a:p>
            <a:r>
              <a:rPr lang="en-IN" dirty="0"/>
              <a:t>What skills should developers learn?</a:t>
            </a:r>
          </a:p>
          <a:p>
            <a:r>
              <a:rPr lang="en-IN" dirty="0"/>
              <a:t>How does compensation vary?</a:t>
            </a:r>
          </a:p>
          <a:p>
            <a:r>
              <a:rPr lang="en-IN" dirty="0"/>
              <a:t>What affects job satisfaction?</a:t>
            </a:r>
          </a:p>
          <a:p>
            <a:pPr marL="0" indent="0">
              <a:buNone/>
            </a:pPr>
            <a:r>
              <a:rPr lang="en-IN" dirty="0"/>
              <a:t>This analysis is useful for:</a:t>
            </a:r>
          </a:p>
          <a:p>
            <a:r>
              <a:rPr lang="en-IN" dirty="0"/>
              <a:t>Hiring managers planning recruitment.</a:t>
            </a:r>
          </a:p>
          <a:p>
            <a:r>
              <a:rPr lang="en-IN" dirty="0"/>
              <a:t>Developers planning career growth.</a:t>
            </a:r>
          </a:p>
          <a:p>
            <a:r>
              <a:rPr lang="en-IN" dirty="0"/>
              <a:t>Organizations planning tech investments.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624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CC50D-825E-5ABB-3FBE-42E16223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E8955-A5C2-FF37-E2A4-787379641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Data Source:</a:t>
            </a:r>
          </a:p>
          <a:p>
            <a:pPr marL="0" indent="0">
              <a:buNone/>
            </a:pPr>
            <a:r>
              <a:rPr lang="en-US" dirty="0"/>
              <a:t>Stack Overflow Developer Survey Dataset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Data Cleaning Steps Performed:</a:t>
            </a:r>
          </a:p>
          <a:p>
            <a:r>
              <a:rPr lang="en-US" dirty="0"/>
              <a:t>Removed missing values</a:t>
            </a:r>
          </a:p>
          <a:p>
            <a:r>
              <a:rPr lang="en-US" dirty="0"/>
              <a:t>Imputed numerical columns using median</a:t>
            </a:r>
          </a:p>
          <a:p>
            <a:r>
              <a:rPr lang="en-US" dirty="0"/>
              <a:t>Imputed categorical columns using mode</a:t>
            </a:r>
          </a:p>
          <a:p>
            <a:r>
              <a:rPr lang="en-US" dirty="0"/>
              <a:t>Removed compensation outliers (IQR method)</a:t>
            </a:r>
          </a:p>
          <a:p>
            <a:r>
              <a:rPr lang="en-US" dirty="0"/>
              <a:t>Converted Age and </a:t>
            </a:r>
            <a:r>
              <a:rPr lang="en-US" dirty="0" err="1"/>
              <a:t>YearsCodePro</a:t>
            </a:r>
            <a:r>
              <a:rPr lang="en-US" dirty="0"/>
              <a:t> to numeric</a:t>
            </a:r>
          </a:p>
          <a:p>
            <a:r>
              <a:rPr lang="en-US" dirty="0"/>
              <a:t>Created age groups</a:t>
            </a:r>
          </a:p>
          <a:p>
            <a:r>
              <a:rPr lang="en-US" dirty="0"/>
              <a:t>Log transformed compensation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Tools Used:</a:t>
            </a:r>
          </a:p>
          <a:p>
            <a:pPr marL="0" indent="0">
              <a:buNone/>
            </a:pPr>
            <a:r>
              <a:rPr lang="en-US" dirty="0"/>
              <a:t>Python(Pandas, </a:t>
            </a:r>
            <a:r>
              <a:rPr lang="en-US" dirty="0" err="1"/>
              <a:t>Numpy</a:t>
            </a:r>
            <a:r>
              <a:rPr lang="en-US" dirty="0"/>
              <a:t>, Matplotlib, Seaborn)</a:t>
            </a:r>
          </a:p>
        </p:txBody>
      </p:sp>
    </p:spTree>
    <p:extLst>
      <p:ext uri="{BB962C8B-B14F-4D97-AF65-F5344CB8AC3E}">
        <p14:creationId xmlns:p14="http://schemas.microsoft.com/office/powerpoint/2010/main" val="1506864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56896-C3EB-6E6A-1632-A97FBA37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004"/>
            <a:ext cx="10515600" cy="1325563"/>
          </a:xfrm>
        </p:spPr>
        <p:txBody>
          <a:bodyPr/>
          <a:lstStyle/>
          <a:p>
            <a:r>
              <a:rPr lang="en-US" dirty="0"/>
              <a:t>Current Programming Language Trends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1C56A5-EAEC-0FE5-742D-57B0F1D20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0" r="49728" b="45637"/>
          <a:stretch>
            <a:fillRect/>
          </a:stretch>
        </p:blipFill>
        <p:spPr>
          <a:xfrm>
            <a:off x="639097" y="1071716"/>
            <a:ext cx="9271820" cy="29496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3E948C-42C6-2224-F8E0-D5F51CFE07F7}"/>
              </a:ext>
            </a:extLst>
          </p:cNvPr>
          <p:cNvSpPr txBox="1"/>
          <p:nvPr/>
        </p:nvSpPr>
        <p:spPr>
          <a:xfrm>
            <a:off x="108154" y="4132673"/>
            <a:ext cx="118380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analysis, I examined the most commonly used programming languages among developers.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ranks highest.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HTML/CSS closely follows.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C#, Python, and TypeScript show strong adoption.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Multi-language usage is common.</a:t>
            </a:r>
          </a:p>
          <a:p>
            <a:endParaRPr lang="en-US" dirty="0"/>
          </a:p>
          <a:p>
            <a:r>
              <a:rPr lang="en-US" dirty="0"/>
              <a:t>JavaScript’s dominance confirms that web development continues to lead the global software market.</a:t>
            </a:r>
          </a:p>
          <a:p>
            <a:r>
              <a:rPr lang="en-US" dirty="0"/>
              <a:t>TypeScript’s strong position suggests a shift toward scalable and maintainable front-end development.</a:t>
            </a:r>
          </a:p>
          <a:p>
            <a:r>
              <a:rPr lang="en-US" dirty="0"/>
              <a:t>Python’s presence indicates its importance in data science, automation, and AI.</a:t>
            </a:r>
          </a:p>
        </p:txBody>
      </p:sp>
    </p:spTree>
    <p:extLst>
      <p:ext uri="{BB962C8B-B14F-4D97-AF65-F5344CB8AC3E}">
        <p14:creationId xmlns:p14="http://schemas.microsoft.com/office/powerpoint/2010/main" val="229163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EDF6-9946-7197-B797-540DECAB3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Programming Language Trends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267BDB-CEE7-9F6A-308A-B78C20C22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64813"/>
            <a:ext cx="8868697" cy="25853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5B6490-E468-57AF-7A33-5870F274AC44}"/>
              </a:ext>
            </a:extLst>
          </p:cNvPr>
          <p:cNvSpPr txBox="1"/>
          <p:nvPr/>
        </p:nvSpPr>
        <p:spPr>
          <a:xfrm>
            <a:off x="176980" y="4067352"/>
            <a:ext cx="115529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chart highlights the technologies developers are interested in learning next year.</a:t>
            </a:r>
          </a:p>
          <a:p>
            <a:r>
              <a:rPr lang="en-US" dirty="0"/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remains strong.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interest is growing.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TypeScript continues to rise.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Modern ecosystems dominate preferences.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There is strong overlap between current usage and future interest, indicating stability in core technologies.</a:t>
            </a:r>
          </a:p>
          <a:p>
            <a:r>
              <a:rPr lang="en-US" dirty="0"/>
              <a:t>However, emerging languages show increased curiosity, suggesting innovation-driven learning.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04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5029-4EC2-87B8-CF20-E53974BB1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39"/>
            <a:ext cx="10515600" cy="1325563"/>
          </a:xfrm>
        </p:spPr>
        <p:txBody>
          <a:bodyPr/>
          <a:lstStyle/>
          <a:p>
            <a:r>
              <a:rPr lang="en-US" dirty="0"/>
              <a:t>Current Database Trends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3E5819-B5CF-01AF-19C4-029EDFE52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9337" b="45019"/>
          <a:stretch>
            <a:fillRect/>
          </a:stretch>
        </p:blipFill>
        <p:spPr>
          <a:xfrm>
            <a:off x="621891" y="1002430"/>
            <a:ext cx="8925232" cy="3117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E58EBF-E6EA-D221-512D-4E90B9A6467A}"/>
              </a:ext>
            </a:extLst>
          </p:cNvPr>
          <p:cNvSpPr txBox="1"/>
          <p:nvPr/>
        </p:nvSpPr>
        <p:spPr>
          <a:xfrm>
            <a:off x="196645" y="4208206"/>
            <a:ext cx="101370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chart analyzes the most commonly used databases.</a:t>
            </a:r>
          </a:p>
          <a:p>
            <a:r>
              <a:rPr lang="en-US" dirty="0"/>
              <a:t>Observations: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PostgreSQL leads.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MySQL and SQL Server remain widely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MongoDB represents NoSQL adoption.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Redis show caching and performance focus.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PostgreSQL is a safe long-term skill investment.</a:t>
            </a:r>
          </a:p>
          <a:p>
            <a:r>
              <a:rPr lang="en-US" dirty="0"/>
              <a:t>Organizations still rely heavily on structured relational systems.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8114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AFBC8-AB88-4B11-21DC-592291EBF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Database Demand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A8C271-F360-CC1C-C956-1E61FA9D9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18" y="1233460"/>
            <a:ext cx="8983702" cy="29626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5F1E95-D478-6BDA-B828-A6C15128FDD6}"/>
              </a:ext>
            </a:extLst>
          </p:cNvPr>
          <p:cNvSpPr txBox="1"/>
          <p:nvPr/>
        </p:nvSpPr>
        <p:spPr>
          <a:xfrm>
            <a:off x="147484" y="4196148"/>
            <a:ext cx="108125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chart reflects developer interest in future database technologies.</a:t>
            </a:r>
          </a:p>
          <a:p>
            <a:r>
              <a:rPr lang="en-IN" dirty="0"/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PostgreSQL maintains top position.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Redis demand increasing.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MongoDB interest rising.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Traditional SQL databases still stable.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PostgreSQL appears in both current and future charts, indicating sustained dominance.</a:t>
            </a:r>
          </a:p>
          <a:p>
            <a:r>
              <a:rPr lang="en-IN" dirty="0"/>
              <a:t>This suggests market maturity rather than rapid disruption.</a:t>
            </a:r>
          </a:p>
        </p:txBody>
      </p:sp>
    </p:spTree>
    <p:extLst>
      <p:ext uri="{BB962C8B-B14F-4D97-AF65-F5344CB8AC3E}">
        <p14:creationId xmlns:p14="http://schemas.microsoft.com/office/powerpoint/2010/main" val="4268635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B2370-77A6-CB22-4CF6-88126EFCF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Satisfaction/ Market Distribution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F5BFEC-1605-9EB2-B10D-AB89B981D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54" y="1356850"/>
            <a:ext cx="7872818" cy="2883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B4D10F-2E85-6E9D-04BC-80FE520AA091}"/>
              </a:ext>
            </a:extLst>
          </p:cNvPr>
          <p:cNvSpPr txBox="1"/>
          <p:nvPr/>
        </p:nvSpPr>
        <p:spPr>
          <a:xfrm>
            <a:off x="176981" y="4378472"/>
            <a:ext cx="101763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chart represents the distribution of job satisfaction levels among respondents.</a:t>
            </a:r>
          </a:p>
          <a:p>
            <a:r>
              <a:rPr lang="en-US" dirty="0"/>
              <a:t>Observations: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Satisfaction level 8 is most frequent.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low satisfaction levels are limited.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Majority fall between 6-8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The developer workforce appears moderately to highly satisfied overall.</a:t>
            </a:r>
          </a:p>
          <a:p>
            <a:r>
              <a:rPr lang="en-US" dirty="0"/>
              <a:t>Extreme dissatisfaction is rare, which indicates relatively stable working conditions in tech.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5819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2EB4-A19C-7381-0462-23B3C7DD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1: Current Technology Usage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9E81075-B8B6-6A1E-E296-44E43A6F2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23" y="1711222"/>
            <a:ext cx="10596716" cy="478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87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8F01-9831-7359-2550-3A0E8A5C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Technology Usage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3CFFE-77E9-5215-833A-502A5D18A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This dashboard consolidates the current technology ecosystem across programming languages, databases, and platforms.</a:t>
            </a:r>
          </a:p>
          <a:p>
            <a:pPr marL="0" indent="0">
              <a:buNone/>
            </a:pPr>
            <a:r>
              <a:rPr lang="en-US" dirty="0"/>
              <a:t>Highlights:</a:t>
            </a:r>
          </a:p>
          <a:p>
            <a:r>
              <a:rPr lang="en-US" dirty="0"/>
              <a:t>JavaScript dominates language usage.</a:t>
            </a:r>
          </a:p>
          <a:p>
            <a:r>
              <a:rPr lang="en-US" dirty="0"/>
              <a:t>PostgreSQL leads database adoption.</a:t>
            </a:r>
          </a:p>
          <a:p>
            <a:r>
              <a:rPr lang="en-US" dirty="0"/>
              <a:t>AWS is the most widely used cloud platform.</a:t>
            </a:r>
          </a:p>
          <a:p>
            <a:r>
              <a:rPr lang="en-US" dirty="0"/>
              <a:t>Full-time employment dominates respondents.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ecosystem strongly revolves around web-first, cloud-integrated architectures.</a:t>
            </a:r>
          </a:p>
          <a:p>
            <a:pPr marL="0" indent="0">
              <a:buNone/>
            </a:pPr>
            <a:r>
              <a:rPr lang="en-US" dirty="0"/>
              <a:t>This suggests that modern development is centered around scalable web applications.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Organizations must prioritize cloud-native development.</a:t>
            </a:r>
          </a:p>
          <a:p>
            <a:pPr marL="0" indent="0">
              <a:buNone/>
            </a:pPr>
            <a:r>
              <a:rPr lang="en-US" dirty="0"/>
              <a:t>Hiring demand will continue in JavaScript &amp; PostgreSQL stacks.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399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7D61-2D07-8231-8400-1B1F96B59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2: Future Technology Trends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CFDE52-5D2C-AA74-B5E9-A0A063692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498" y="1533832"/>
            <a:ext cx="9142228" cy="464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73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3E5C-B930-9E26-FF99-5AD745743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Technology Trends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C5EBD-6CBF-0227-7D4D-0EFCEEC07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This dashboard captures technologies developers want to work with in the future.</a:t>
            </a:r>
          </a:p>
          <a:p>
            <a:pPr marL="0" indent="0">
              <a:buNone/>
            </a:pPr>
            <a:r>
              <a:rPr lang="en-US" dirty="0"/>
              <a:t>Observations:</a:t>
            </a:r>
          </a:p>
          <a:p>
            <a:r>
              <a:rPr lang="en-US" dirty="0"/>
              <a:t>PostgreSQL remains dominant.</a:t>
            </a:r>
          </a:p>
          <a:p>
            <a:r>
              <a:rPr lang="en-US" dirty="0"/>
              <a:t>Redis and MongoDB interest increasing.</a:t>
            </a:r>
          </a:p>
          <a:p>
            <a:r>
              <a:rPr lang="en-US" dirty="0"/>
              <a:t>TypeScript and Python gaining traction.</a:t>
            </a:r>
          </a:p>
          <a:p>
            <a:r>
              <a:rPr lang="en-US" dirty="0"/>
              <a:t>Cloud platforms maintain strong demand.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is strong overlap between current usage and future preference, indicating market stability.</a:t>
            </a:r>
          </a:p>
          <a:p>
            <a:pPr marL="0" indent="0">
              <a:buNone/>
            </a:pPr>
            <a:r>
              <a:rPr lang="en-US" dirty="0"/>
              <a:t>At the same time, growing interest in modern tools suggests gradual innovation.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Organizations adopting trending technologies will attract talent.</a:t>
            </a:r>
          </a:p>
          <a:p>
            <a:pPr marL="0" indent="0">
              <a:buNone/>
            </a:pPr>
            <a:r>
              <a:rPr lang="en-US" dirty="0"/>
              <a:t>Developers aligning with future-demand stacks improve career growth.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594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62A8-3BCE-66D4-6B9A-3865505DA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3: Demographics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87FA2E-CDD6-C5B7-6B2A-24C9EE38D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825" y="1553906"/>
            <a:ext cx="9438968" cy="493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759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5E11-EBB9-6202-F765-2DBB40BE8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F0C62-C11D-0A3B-9C1D-DCF649306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dashboard summarizes age distribution, education level, and employment type.</a:t>
            </a:r>
          </a:p>
          <a:p>
            <a:pPr marL="0" indent="0">
              <a:buNone/>
            </a:pPr>
            <a:r>
              <a:rPr lang="en-US" dirty="0"/>
              <a:t>Insights:</a:t>
            </a:r>
          </a:p>
          <a:p>
            <a:r>
              <a:rPr lang="en-IN" dirty="0"/>
              <a:t>Majority age group 25-34.</a:t>
            </a:r>
          </a:p>
          <a:p>
            <a:r>
              <a:rPr lang="en-IN" dirty="0"/>
              <a:t>Most developers hold Bachelor’s degrees.</a:t>
            </a:r>
          </a:p>
          <a:p>
            <a:r>
              <a:rPr lang="en-IN" dirty="0"/>
              <a:t>Full-time employment dominates.</a:t>
            </a:r>
          </a:p>
          <a:p>
            <a:r>
              <a:rPr lang="en-IN" dirty="0"/>
              <a:t>USA, India, Germany among top respondent countries.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 global tech workforce is young, educated, and largely employed in stable roles.</a:t>
            </a:r>
          </a:p>
        </p:txBody>
      </p:sp>
    </p:spTree>
    <p:extLst>
      <p:ext uri="{BB962C8B-B14F-4D97-AF65-F5344CB8AC3E}">
        <p14:creationId xmlns:p14="http://schemas.microsoft.com/office/powerpoint/2010/main" val="1012744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D3809-5C65-94CE-0387-C7E679B83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Business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4F0AA-0170-C230-8B59-BDB579C44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This analysis reveals a stable yet evolving developer ecosystem characterized by:</a:t>
            </a:r>
          </a:p>
          <a:p>
            <a:r>
              <a:rPr lang="en-US" dirty="0"/>
              <a:t>Dominance of web and cloud technologies</a:t>
            </a:r>
          </a:p>
          <a:p>
            <a:r>
              <a:rPr lang="en-US" dirty="0"/>
              <a:t>Strong compensation growth with experience</a:t>
            </a:r>
          </a:p>
          <a:p>
            <a:r>
              <a:rPr lang="en-US" dirty="0"/>
              <a:t>High employability across regions</a:t>
            </a:r>
          </a:p>
          <a:p>
            <a:r>
              <a:rPr lang="en-US" dirty="0"/>
              <a:t>Moderate to high job satisfaction levels</a:t>
            </a:r>
          </a:p>
          <a:p>
            <a:pPr marL="0" indent="0">
              <a:buNone/>
            </a:pPr>
            <a:r>
              <a:rPr lang="en-US" dirty="0"/>
              <a:t>Technology markets show incremental innovation rather than disruptive shifts.</a:t>
            </a:r>
          </a:p>
          <a:p>
            <a:pPr marL="0" indent="0">
              <a:buNone/>
            </a:pPr>
            <a:r>
              <a:rPr lang="en-US" dirty="0"/>
              <a:t>For Companies:</a:t>
            </a:r>
          </a:p>
          <a:p>
            <a:r>
              <a:rPr lang="en-US" dirty="0"/>
              <a:t>Invest in cloud-native architecture.</a:t>
            </a:r>
          </a:p>
          <a:p>
            <a:r>
              <a:rPr lang="en-IN" dirty="0"/>
              <a:t>Focus on PostgreSQL and modern web stacks.</a:t>
            </a:r>
          </a:p>
          <a:p>
            <a:r>
              <a:rPr lang="en-IN" dirty="0"/>
              <a:t>Create mid-career growth paths.</a:t>
            </a:r>
          </a:p>
          <a:p>
            <a:r>
              <a:rPr lang="en-IN" dirty="0"/>
              <a:t>Offer continuous learning programs.</a:t>
            </a:r>
          </a:p>
          <a:p>
            <a:pPr marL="0" indent="0">
              <a:buNone/>
            </a:pPr>
            <a:r>
              <a:rPr lang="en-IN" dirty="0"/>
              <a:t>For Developers:</a:t>
            </a:r>
          </a:p>
          <a:p>
            <a:r>
              <a:rPr lang="en-IN" dirty="0"/>
              <a:t>Build expertise in JavaScript ecosystem.</a:t>
            </a:r>
          </a:p>
          <a:p>
            <a:r>
              <a:rPr lang="en-IN" dirty="0"/>
              <a:t>Learn PostgreSQL and cloud integration.</a:t>
            </a:r>
          </a:p>
          <a:p>
            <a:r>
              <a:rPr lang="en-IN" dirty="0"/>
              <a:t>Gain 5-10 years of focused experience for strong salary growth.</a:t>
            </a:r>
          </a:p>
          <a:p>
            <a:r>
              <a:rPr lang="en-IN" dirty="0"/>
              <a:t>Develop multi skill capability.</a:t>
            </a:r>
          </a:p>
        </p:txBody>
      </p:sp>
    </p:spTree>
    <p:extLst>
      <p:ext uri="{BB962C8B-B14F-4D97-AF65-F5344CB8AC3E}">
        <p14:creationId xmlns:p14="http://schemas.microsoft.com/office/powerpoint/2010/main" val="398954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DB935-D1DD-7FE6-3015-DB8D2B395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C9E7F-644D-669A-FFD1-4D9CCD325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Stack Overflow Developer Survey data provides valuable insights into global developer trends.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Organizations that invest in cloud technologies, modern databases, and continuous talent development will remain competitive.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developers, focusing on high-demand stacks and accumulating professional experience significantly improves earning potential.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387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EF61E-DB24-16C0-AAA4-36C90B1F0C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049A43-4DE4-B1D9-78A3-5B35836342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736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947</Words>
  <Application>Microsoft Office PowerPoint</Application>
  <PresentationFormat>Widescreen</PresentationFormat>
  <Paragraphs>158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Title: Stack Overflow Developer Survey Analysis  </vt:lpstr>
      <vt:lpstr>Outline</vt:lpstr>
      <vt:lpstr>Executive Summary</vt:lpstr>
      <vt:lpstr>Introduction</vt:lpstr>
      <vt:lpstr>Methodology</vt:lpstr>
      <vt:lpstr>Current Programming Language Trends</vt:lpstr>
      <vt:lpstr>Future Programming Language Trends</vt:lpstr>
      <vt:lpstr>Current Database Trends</vt:lpstr>
      <vt:lpstr>Future Database Demand</vt:lpstr>
      <vt:lpstr>Job Satisfaction/ Market Distribution</vt:lpstr>
      <vt:lpstr>Dashboard 1: Current Technology Usage</vt:lpstr>
      <vt:lpstr>Current Technology Usage</vt:lpstr>
      <vt:lpstr>Dashboard 2: Future Technology Trends</vt:lpstr>
      <vt:lpstr>Future Technology Trends</vt:lpstr>
      <vt:lpstr>Dashboard 3: Demographics</vt:lpstr>
      <vt:lpstr>Demographics</vt:lpstr>
      <vt:lpstr>Overall Business Conclusion</vt:lpstr>
      <vt:lpstr>Project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kaurav</dc:creator>
  <cp:lastModifiedBy>Akash kaurav</cp:lastModifiedBy>
  <cp:revision>3</cp:revision>
  <dcterms:created xsi:type="dcterms:W3CDTF">2026-03-02T11:07:00Z</dcterms:created>
  <dcterms:modified xsi:type="dcterms:W3CDTF">2026-03-03T03:23:30Z</dcterms:modified>
</cp:coreProperties>
</file>